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70" r:id="rId9"/>
    <p:sldId id="268" r:id="rId10"/>
    <p:sldId id="271" r:id="rId11"/>
    <p:sldId id="274" r:id="rId12"/>
    <p:sldId id="272" r:id="rId13"/>
    <p:sldId id="273" r:id="rId14"/>
    <p:sldId id="262" r:id="rId15"/>
    <p:sldId id="263" r:id="rId16"/>
    <p:sldId id="264" r:id="rId17"/>
    <p:sldId id="265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0FEB751-2110-48FA-82E2-3C36FB831537}">
          <p14:sldIdLst>
            <p14:sldId id="256"/>
            <p14:sldId id="257"/>
            <p14:sldId id="258"/>
            <p14:sldId id="269"/>
            <p14:sldId id="259"/>
            <p14:sldId id="260"/>
          </p14:sldIdLst>
        </p14:section>
        <p14:section name="Untitled Section" id="{4EB5A009-7AA5-4F16-A5FD-01E145409143}">
          <p14:sldIdLst>
            <p14:sldId id="261"/>
            <p14:sldId id="270"/>
            <p14:sldId id="268"/>
            <p14:sldId id="271"/>
            <p14:sldId id="274"/>
            <p14:sldId id="272"/>
            <p14:sldId id="273"/>
            <p14:sldId id="262"/>
            <p14:sldId id="263"/>
            <p14:sldId id="264"/>
            <p14:sldId id="265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5" autoAdjust="0"/>
    <p:restoredTop sz="94660"/>
  </p:normalViewPr>
  <p:slideViewPr>
    <p:cSldViewPr snapToGrid="0">
      <p:cViewPr varScale="1">
        <p:scale>
          <a:sx n="81" d="100"/>
          <a:sy n="81" d="100"/>
        </p:scale>
        <p:origin x="917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A5579-5FAE-4D79-BADB-24F448772159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BD690-5D1C-4A22-A83F-72B087D8A3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438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690-5D1C-4A22-A83F-72B087D8A35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178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oundRect">
            <a:avLst>
              <a:gd name="adj" fmla="val 1019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>
                <a:solidFill>
                  <a:srgbClr val="C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45C03C-4E4B-456A-82F7-0C8C80F802A4}" type="datetime1">
              <a:rPr lang="en-IN" smtClean="0"/>
              <a:pPr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FB7573-0EEC-4F18-B4D8-B9624EC7F9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388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749E-3FF3-41B2-B4DE-BB379C572509}" type="datetime1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D1B65D-8994-4450-B653-98A64B0BFF72}"/>
              </a:ext>
            </a:extLst>
          </p:cNvPr>
          <p:cNvCxnSpPr/>
          <p:nvPr userDrawn="1"/>
        </p:nvCxnSpPr>
        <p:spPr>
          <a:xfrm>
            <a:off x="0" y="6272613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35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2FD6B-8032-4829-B4E8-B5A13942ACB1}" type="datetime1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93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0B156-E9C2-4089-BE8B-039826BBCF49}" type="datetime1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646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AA8F2-CEBB-42F2-ABB5-DBEDC54A2724}" type="datetime1">
              <a:rPr lang="en-IN" smtClean="0"/>
              <a:t>26-05-2026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89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4DCA7-BC2C-498A-8892-C3DA341BAC80}" type="datetime1">
              <a:rPr lang="en-IN" smtClean="0"/>
              <a:t>26-05-2026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647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EF9A9-599A-4B35-AA32-0CE3A73C181A}" type="datetime1">
              <a:rPr lang="en-IN" smtClean="0"/>
              <a:t>26-05-2026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000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88FD7-AC07-442D-84DA-2C9F324FA9B7}" type="datetime1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636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60739-263C-4AC0-908C-23A0496DBB8C}" type="datetime1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462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53856-92C1-48E2-A678-16485DB25C68}" type="datetime1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433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9461-CAE6-476C-8ED6-DBF4B56C1ADD}" type="datetime1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44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007" y="222192"/>
            <a:ext cx="8785077" cy="63238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006" y="1008404"/>
            <a:ext cx="8785077" cy="5195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006" y="6363177"/>
            <a:ext cx="11878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6AF89DF0-7DAD-40C2-A6C2-6C23C0306B67}" type="datetime1">
              <a:rPr lang="en-IN" smtClean="0"/>
              <a:pPr/>
              <a:t>26-05-2026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8603" y="6364897"/>
            <a:ext cx="69050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17606" y="6364896"/>
            <a:ext cx="5383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/>
                </a:solidFill>
                <a:latin typeface="Leelawadee" panose="020B0502040204020203" pitchFamily="34" charset="-34"/>
                <a:cs typeface="Leelawadee" panose="020B0502040204020203" pitchFamily="34" charset="-34"/>
              </a:defRPr>
            </a:lvl1pPr>
          </a:lstStyle>
          <a:p>
            <a:fld id="{ADFB7573-0EEC-4F18-B4D8-B9624EC7F9C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954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Leelawadee" panose="020B0502040204020203" pitchFamily="34" charset="-34"/>
          <a:ea typeface="+mj-ea"/>
          <a:cs typeface="Leelawadee" panose="020B0502040204020203" pitchFamily="34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00000"/>
          </a:solidFill>
          <a:latin typeface="Book Antiqua" panose="0204060205030503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00000"/>
          </a:solidFill>
          <a:latin typeface="Book Antiqua" panose="0204060205030503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3E162-9269-475D-82BD-7ED6F020D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176" y="310896"/>
            <a:ext cx="8641080" cy="1655763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0" dirty="0">
                <a:cs typeface="Leelawadee" panose="020B0502040204020203"/>
              </a:rPr>
              <a:t>Senior Design Project Presentation on</a:t>
            </a:r>
            <a:br>
              <a:rPr lang="en-US" dirty="0">
                <a:cs typeface="Leelawadee" panose="020B0502040204020203"/>
              </a:rPr>
            </a:br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LANGUAGE IDENTIFICATION USING MACHINE LEARNING</a:t>
            </a:r>
            <a:endParaRPr lang="en-IN" sz="3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F460B-EF8D-4E52-A112-BCE867A59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2805616"/>
            <a:ext cx="3550920" cy="951674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solidFill>
                  <a:schemeClr val="tx1"/>
                </a:solidFill>
              </a:rPr>
              <a:t>Supervisor: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Prof. </a:t>
            </a:r>
            <a:r>
              <a:rPr lang="en-IN" sz="2000" dirty="0">
                <a:solidFill>
                  <a:schemeClr val="tx1"/>
                </a:solidFill>
              </a:rPr>
              <a:t>Hemant Kumar Palo</a:t>
            </a:r>
            <a:r>
              <a:rPr lang="en-IN" sz="2000" dirty="0">
                <a:solidFill>
                  <a:schemeClr val="tx1"/>
                </a:solidFill>
                <a:latin typeface="Bahnschrift SemiBold SemiConden" panose="020B0502040204020203" pitchFamily="34" charset="0"/>
              </a:rPr>
              <a:t>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BF480FF-180A-4C81-A907-DD371FF4ACE9}"/>
              </a:ext>
            </a:extLst>
          </p:cNvPr>
          <p:cNvSpPr txBox="1">
            <a:spLocks/>
          </p:cNvSpPr>
          <p:nvPr/>
        </p:nvSpPr>
        <p:spPr>
          <a:xfrm>
            <a:off x="5384292" y="2487167"/>
            <a:ext cx="3753612" cy="2295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900" b="1" dirty="0">
                <a:solidFill>
                  <a:schemeClr val="tx1"/>
                </a:solidFill>
              </a:rPr>
              <a:t>Presented by:</a:t>
            </a:r>
          </a:p>
          <a:p>
            <a:pPr algn="l"/>
            <a:r>
              <a:rPr lang="en-US" sz="1900" dirty="0">
                <a:solidFill>
                  <a:schemeClr val="tx1"/>
                </a:solidFill>
              </a:rPr>
              <a:t>Ms.Shreya Kumari (2241011259)</a:t>
            </a:r>
          </a:p>
          <a:p>
            <a:pPr algn="l"/>
            <a:r>
              <a:rPr lang="en-US" sz="1900" dirty="0">
                <a:solidFill>
                  <a:schemeClr val="tx1"/>
                </a:solidFill>
              </a:rPr>
              <a:t>Ms. Srijal Rath (2241018088)</a:t>
            </a:r>
          </a:p>
          <a:p>
            <a:pPr algn="l"/>
            <a:r>
              <a:rPr lang="en-US" sz="1900" dirty="0">
                <a:solidFill>
                  <a:schemeClr val="tx1"/>
                </a:solidFill>
              </a:rPr>
              <a:t>Ms. Naina Paikaray(2241016027)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75B10EB-3668-4404-A943-B17C14B6DFE1}"/>
              </a:ext>
            </a:extLst>
          </p:cNvPr>
          <p:cNvSpPr txBox="1">
            <a:spLocks/>
          </p:cNvSpPr>
          <p:nvPr/>
        </p:nvSpPr>
        <p:spPr>
          <a:xfrm>
            <a:off x="265176" y="5175503"/>
            <a:ext cx="8409432" cy="1147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56E70F7-CC93-4CD3-83E5-7FA138D63B4F}"/>
              </a:ext>
            </a:extLst>
          </p:cNvPr>
          <p:cNvSpPr txBox="1">
            <a:spLocks/>
          </p:cNvSpPr>
          <p:nvPr/>
        </p:nvSpPr>
        <p:spPr>
          <a:xfrm>
            <a:off x="265176" y="4782311"/>
            <a:ext cx="8641080" cy="1830863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3200" b="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sz="2000" dirty="0">
                <a:cs typeface="Leelawadee" panose="020B0502040204020203"/>
              </a:rPr>
              <a:t>Department of Electronics &amp; Communication Engineering</a:t>
            </a:r>
          </a:p>
          <a:p>
            <a:r>
              <a:rPr lang="en-US" sz="2400" b="1" dirty="0">
                <a:cs typeface="Leelawadee" panose="020B0502040204020203"/>
              </a:rPr>
              <a:t>Institute of Technical Education &amp; Research (FET)</a:t>
            </a:r>
          </a:p>
          <a:p>
            <a:endParaRPr lang="en-US" sz="2400" dirty="0">
              <a:cs typeface="Leelawadee" panose="020B0502040204020203"/>
            </a:endParaRPr>
          </a:p>
          <a:p>
            <a:r>
              <a:rPr lang="en-US" sz="2400" b="1" dirty="0">
                <a:cs typeface="Leelawadee" panose="020B0502040204020203"/>
              </a:rPr>
              <a:t>Siksha ‘O’ Anusandhan Deemed to be University, Bhubaneswar</a:t>
            </a:r>
          </a:p>
          <a:p>
            <a:r>
              <a:rPr lang="en-US" sz="1800" dirty="0">
                <a:cs typeface="Leelawadee" panose="020B0502040204020203"/>
              </a:rPr>
              <a:t>May, 2026</a:t>
            </a:r>
            <a:endParaRPr lang="en-IN" sz="1800" dirty="0">
              <a:cs typeface="Leelawadee" panose="020B0502040204020203"/>
            </a:endParaRPr>
          </a:p>
        </p:txBody>
      </p:sp>
      <p:pic>
        <p:nvPicPr>
          <p:cNvPr id="4098" name="Picture 2" descr="Odisha Jobs - Vacancy At SOA-University October-2019">
            <a:extLst>
              <a:ext uri="{FF2B5EF4-FFF2-40B4-BE49-F238E27FC236}">
                <a16:creationId xmlns:a16="http://schemas.microsoft.com/office/drawing/2014/main" id="{EF25C4DA-67A9-1DB1-DC71-4FD84F9D4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9106" y="2363263"/>
            <a:ext cx="1828800" cy="182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692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FC446-FC6F-4323-8E5E-54D5298B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41B09-66EE-494B-AB83-084049831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300" dirty="0"/>
              <a:t>Introduction</a:t>
            </a:r>
          </a:p>
          <a:p>
            <a:pPr algn="just"/>
            <a:r>
              <a:rPr lang="en-US" sz="2300" dirty="0"/>
              <a:t>Objective	</a:t>
            </a:r>
          </a:p>
          <a:p>
            <a:pPr algn="just"/>
            <a:r>
              <a:rPr lang="en-US" sz="2300" dirty="0"/>
              <a:t>Literature Survey	</a:t>
            </a:r>
          </a:p>
          <a:p>
            <a:pPr algn="just"/>
            <a:r>
              <a:rPr lang="en-US" sz="2300" dirty="0"/>
              <a:t>Design Scheme	</a:t>
            </a:r>
          </a:p>
          <a:p>
            <a:pPr algn="just"/>
            <a:r>
              <a:rPr lang="en-US" sz="2300" dirty="0"/>
              <a:t>Testing, Analysis, And Evaluation</a:t>
            </a:r>
          </a:p>
          <a:p>
            <a:pPr algn="just"/>
            <a:r>
              <a:rPr lang="en-US" sz="2300" dirty="0"/>
              <a:t>Confusion Matrix</a:t>
            </a:r>
          </a:p>
          <a:p>
            <a:pPr algn="just"/>
            <a:r>
              <a:rPr lang="en-US" sz="2300" dirty="0"/>
              <a:t>ROC Curve Analysis	</a:t>
            </a:r>
          </a:p>
          <a:p>
            <a:pPr algn="just"/>
            <a:r>
              <a:rPr lang="en-US" sz="2300" dirty="0"/>
              <a:t>Socio-economic Issues Associated With The Project</a:t>
            </a:r>
          </a:p>
          <a:p>
            <a:pPr algn="just"/>
            <a:r>
              <a:rPr lang="en-US" sz="2300" dirty="0"/>
              <a:t>Engineering Tools And Standards	</a:t>
            </a:r>
          </a:p>
          <a:p>
            <a:pPr algn="just"/>
            <a:r>
              <a:rPr lang="en-US" sz="2300" dirty="0"/>
              <a:t>Conclusion</a:t>
            </a:r>
          </a:p>
          <a:p>
            <a:pPr algn="just"/>
            <a:r>
              <a:rPr lang="en-US" sz="2300" dirty="0"/>
              <a:t>References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05AB0-97FA-46C0-9103-759A544B4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AA84-F85C-4617-A1EC-E732260831FD}" type="datetime1">
              <a:rPr lang="en-IN" smtClean="0"/>
              <a:t>26-05-2026</a:t>
            </a:fld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FEBD3-61BF-443F-9481-BE1580B7C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21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BF116-97EB-49F9-868F-4FF8C27C9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	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14526-8011-4C79-AB11-4EFF2BB6B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ED9C6-6521-4398-A7DC-DB682660407D}" type="datetime1">
              <a:rPr lang="en-IN" smtClean="0"/>
              <a:t>26-05-2026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C5D16-38AE-4E8A-8719-DC2DB0EC3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3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F440F6B-E04D-C665-67BC-F0A2EA2D20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738" y="977127"/>
            <a:ext cx="869107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Detects Indian regional languages from speech/audio using Machine Learning.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Converts audio into visual features (Mel Spectrograms &amp; Spectrograms) for analysis.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Extracts important speech patterns like frequency, tone, and language features.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Uses ML/DL models for accurate and robust language classification.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68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68B18-F47F-C1CF-2EEF-63E26F0F6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1DEEB-B185-142F-DF5B-17377327B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Objective	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0CAED-F21A-7249-F1B9-CAAE5C16D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ED9C6-6521-4398-A7DC-DB682660407D}" type="datetime1">
              <a:rPr lang="en-IN" smtClean="0"/>
              <a:t>26-05-2026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3D289-118D-CFDD-2F8D-4172084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4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7E737F9-6599-566F-F683-020D609DD9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005" y="1007394"/>
            <a:ext cx="8625790" cy="4267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300" dirty="0"/>
              <a:t>To develop an automated system for identifying Indian regional languages from speech signals.</a:t>
            </a:r>
          </a:p>
          <a:p>
            <a:pPr algn="just"/>
            <a:r>
              <a:rPr lang="en-US" sz="2300" dirty="0"/>
              <a:t>To extract meaningful audio features using Mel Spectrogram, FFT, and MFCC techniques.</a:t>
            </a:r>
          </a:p>
          <a:p>
            <a:pPr algn="just"/>
            <a:r>
              <a:rPr lang="en-US" sz="2300" dirty="0"/>
              <a:t>To compare the performance of different Machine Learning and Deep Learning models.</a:t>
            </a:r>
          </a:p>
          <a:p>
            <a:pPr algn="just"/>
            <a:r>
              <a:rPr lang="en-US" sz="2300" dirty="0"/>
              <a:t>To improve classification accuracy using feature fusion and optimization methods.</a:t>
            </a:r>
          </a:p>
          <a:p>
            <a:pPr algn="just"/>
            <a:r>
              <a:rPr lang="en-US" sz="2300" dirty="0"/>
              <a:t>To build an efficient and scalable multilingual language recognition system.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274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DA67D-7919-4BD9-85F8-F9B052700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Survey	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3A2C1-2501-4DAC-9128-40D36DA3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AB7E8-BBD7-4FE9-80F4-3C999F840AFA}" type="datetime1">
              <a:rPr lang="en-IN" smtClean="0"/>
              <a:t>26-05-2026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D7361-8AF9-49A3-B25B-B1043E057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5</a:t>
            </a:fld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378C83-2B00-95E7-696E-14FDD0CCA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90" y="1010097"/>
            <a:ext cx="8955994" cy="519584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200" b="1" dirty="0"/>
              <a:t>[1]Himanish Shekhar Das and Pinki Roy (2021)</a:t>
            </a:r>
            <a:r>
              <a:rPr lang="en-IN" sz="2200" dirty="0"/>
              <a:t> used CNN-BiLSTM with Attention on Indian speech datasets and achieved </a:t>
            </a:r>
            <a:r>
              <a:rPr lang="en-IN" sz="2200" b="1" dirty="0"/>
              <a:t>98.10% accuracy</a:t>
            </a:r>
            <a:r>
              <a:rPr lang="en-IN" sz="2200" dirty="0"/>
              <a:t> using spectrogram-based deep features. </a:t>
            </a:r>
          </a:p>
          <a:p>
            <a:pPr marL="0" indent="0" algn="just">
              <a:buNone/>
            </a:pPr>
            <a:r>
              <a:rPr lang="en-IN" sz="2400" b="1" dirty="0"/>
              <a:t>[2]Zhanyu Ma, Hong Yu, Wei Chen, and Jun Guo</a:t>
            </a:r>
            <a:r>
              <a:rPr lang="en-IN" sz="2400" dirty="0"/>
              <a:t> </a:t>
            </a:r>
            <a:r>
              <a:rPr lang="en-IN" sz="2200" b="1" dirty="0"/>
              <a:t>(2019)</a:t>
            </a:r>
            <a:r>
              <a:rPr lang="en-IN" sz="2200" dirty="0"/>
              <a:t> applied LSTM with bottleneck features for short utterance language identification and improved performance on short speech samples. </a:t>
            </a:r>
          </a:p>
          <a:p>
            <a:pPr marL="0" indent="0" algn="just">
              <a:buNone/>
            </a:pPr>
            <a:r>
              <a:rPr lang="en-IN" sz="2200" b="1" dirty="0"/>
              <a:t>[3]Ravi Kumar Vuddagiri, Hari Krishna Vydana, and Anil Kumar Vuppala (2019)</a:t>
            </a:r>
            <a:r>
              <a:rPr lang="en-IN" sz="2200" dirty="0"/>
              <a:t> proposed DNN with Attention using noise-robust acoustic features for better performance under noisy conditions. </a:t>
            </a:r>
          </a:p>
          <a:p>
            <a:pPr marL="0" indent="0" algn="just">
              <a:buNone/>
            </a:pPr>
            <a:r>
              <a:rPr lang="en-IN" sz="2200" b="1" dirty="0"/>
              <a:t>[4]Jog, A. H., Jugade, O. A., Kadegaonkar, A. S., and Birajdar, G. K.  (2020)</a:t>
            </a:r>
            <a:r>
              <a:rPr lang="en-IN" sz="2200" dirty="0"/>
              <a:t> used cochleagram-based features with ANN and achieved 95.36% accuracy in language classification. </a:t>
            </a:r>
          </a:p>
          <a:p>
            <a:pPr marL="0" indent="0" algn="just">
              <a:buNone/>
            </a:pPr>
            <a:r>
              <a:rPr lang="en-US" sz="2200" b="1" dirty="0"/>
              <a:t>[5]Farah Adeeba and Sarmad Hussain</a:t>
            </a:r>
            <a:r>
              <a:rPr lang="en-IN" sz="2200" b="1" dirty="0"/>
              <a:t>(2020)</a:t>
            </a:r>
            <a:r>
              <a:rPr lang="en-IN" sz="2200" dirty="0"/>
              <a:t> combined MFCC, GFCC, spectrogram, and cochleagram features with BiLSTM, showing better accuracy through feature fusion techniques.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5070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BDCC2-6D33-475E-B7AB-E070F315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43" y="60246"/>
            <a:ext cx="8785077" cy="632387"/>
          </a:xfrm>
        </p:spPr>
        <p:txBody>
          <a:bodyPr>
            <a:normAutofit fontScale="90000"/>
          </a:bodyPr>
          <a:lstStyle/>
          <a:p>
            <a:r>
              <a:rPr lang="en-US" dirty="0"/>
              <a:t>Design Scheme	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F3C58-E326-42D4-919E-EF72FBD5D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435B-86FB-4477-9359-4E079732371F}" type="datetime1">
              <a:rPr lang="en-IN" smtClean="0"/>
              <a:t>26-05-2026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9D8E9-34BC-4BA8-9B48-41A92F1A1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6</a:t>
            </a:fld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D842D4A-1659-89C5-7250-6901D1F789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692633"/>
            <a:ext cx="9143999" cy="17051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2A78BA-5CF2-E2FA-7864-86989C061E34}"/>
              </a:ext>
            </a:extLst>
          </p:cNvPr>
          <p:cNvSpPr txBox="1"/>
          <p:nvPr/>
        </p:nvSpPr>
        <p:spPr>
          <a:xfrm>
            <a:off x="1455881" y="23060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i="1" dirty="0"/>
              <a:t>Fig1.1 System Architecture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7A0D9FB-32CF-C321-4B21-E3BEA4818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384052"/>
              </p:ext>
            </p:extLst>
          </p:nvPr>
        </p:nvGraphicFramePr>
        <p:xfrm>
          <a:off x="188005" y="2888550"/>
          <a:ext cx="8767988" cy="29820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1997">
                  <a:extLst>
                    <a:ext uri="{9D8B030D-6E8A-4147-A177-3AD203B41FA5}">
                      <a16:colId xmlns:a16="http://schemas.microsoft.com/office/drawing/2014/main" val="4083797395"/>
                    </a:ext>
                  </a:extLst>
                </a:gridCol>
                <a:gridCol w="2191997">
                  <a:extLst>
                    <a:ext uri="{9D8B030D-6E8A-4147-A177-3AD203B41FA5}">
                      <a16:colId xmlns:a16="http://schemas.microsoft.com/office/drawing/2014/main" val="33475050"/>
                    </a:ext>
                  </a:extLst>
                </a:gridCol>
                <a:gridCol w="2191997">
                  <a:extLst>
                    <a:ext uri="{9D8B030D-6E8A-4147-A177-3AD203B41FA5}">
                      <a16:colId xmlns:a16="http://schemas.microsoft.com/office/drawing/2014/main" val="601823300"/>
                    </a:ext>
                  </a:extLst>
                </a:gridCol>
                <a:gridCol w="2191997">
                  <a:extLst>
                    <a:ext uri="{9D8B030D-6E8A-4147-A177-3AD203B41FA5}">
                      <a16:colId xmlns:a16="http://schemas.microsoft.com/office/drawing/2014/main" val="3201797609"/>
                    </a:ext>
                  </a:extLst>
                </a:gridCol>
              </a:tblGrid>
              <a:tr h="520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Preprocessing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 Extraction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Optimization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Classifier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1113865"/>
                  </a:ext>
                </a:extLst>
              </a:tr>
              <a:tr h="520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Pre-emphasis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Adam Optimizer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CNN + Softmax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145498"/>
                  </a:ext>
                </a:extLst>
              </a:tr>
              <a:tr h="520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Mel Spectrogram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Adam Optimizer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CNN + Softmax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8077229"/>
                  </a:ext>
                </a:extLst>
              </a:tr>
              <a:tr h="898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Framing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Combination 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Adam Optimizer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CNN + Softmax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5822143"/>
                  </a:ext>
                </a:extLst>
              </a:tr>
              <a:tr h="520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Windowing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315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508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CE155-F441-4474-B05F-FF82F7279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41" y="35819"/>
            <a:ext cx="9077659" cy="632387"/>
          </a:xfrm>
        </p:spPr>
        <p:txBody>
          <a:bodyPr>
            <a:normAutofit fontScale="90000"/>
          </a:bodyPr>
          <a:lstStyle/>
          <a:p>
            <a:r>
              <a:rPr lang="en-US" dirty="0"/>
              <a:t>Testing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0F76B-003D-4533-8B5B-E7D4FBC77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41" y="668206"/>
            <a:ext cx="9011318" cy="555049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700" dirty="0"/>
              <a:t>“The proposed system was tested on IIT Madras speech datasets using multiple ML/DL models.”</a:t>
            </a:r>
          </a:p>
          <a:p>
            <a:pPr marL="0" indent="0">
              <a:buNone/>
            </a:pPr>
            <a:r>
              <a:rPr lang="en-US" sz="2000" dirty="0"/>
              <a:t>                                        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80A99-3F23-4C1E-98CF-16F6360CF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59030-E9C7-4BF7-BDDE-D8A9DA1DC43E}" type="datetime1">
              <a:rPr lang="en-IN" smtClean="0"/>
              <a:t>26-05-2026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BEBC1-730B-46C9-B7B9-A8EE8DF71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7</a:t>
            </a:fld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04413D-B392-52FE-9B65-0ECB771D2549}"/>
                  </a:ext>
                </a:extLst>
              </p:cNvPr>
              <p:cNvSpPr txBox="1"/>
              <p:nvPr/>
            </p:nvSpPr>
            <p:spPr>
              <a:xfrm>
                <a:off x="66341" y="4322845"/>
                <a:ext cx="4288492" cy="20115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1900" b="1" i="1">
                        <a:latin typeface="Cambria Math" panose="02040503050406030204" pitchFamily="18" charset="0"/>
                      </a:rPr>
                      <m:t>𝑨𝒄𝒄𝒖𝒓𝒂𝒄𝒚</m:t>
                    </m:r>
                    <m:r>
                      <a:rPr lang="en-IN" sz="19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ar-AE" sz="19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ar-AE" sz="19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ar-AE" sz="19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ar-AE" sz="19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sz="1900" dirty="0"/>
              </a:p>
              <a:p>
                <a:pPr algn="just"/>
                <a:endParaRPr lang="ar-AE" sz="2000" dirty="0"/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1900" b="1" i="1">
                        <a:latin typeface="Cambria Math" panose="02040503050406030204" pitchFamily="18" charset="0"/>
                      </a:rPr>
                      <m:t>𝑳𝒐𝒔𝒔</m:t>
                    </m:r>
                    <m:r>
                      <a:rPr lang="en-IN" sz="1900" i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grow m:val="on"/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19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19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ar-AE" sz="19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sz="19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ar-AE" sz="190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sz="19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sz="19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9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ar-AE" sz="19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ar-AE" sz="19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ar-AE" sz="19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m:rPr>
                        <m:sty m:val="p"/>
                      </m:rPr>
                      <a:rPr lang="en-IN" sz="19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1900" i="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ar-AE" sz="19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sz="19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ar-AE" sz="19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1900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19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endParaRPr lang="en-US" sz="1900" dirty="0"/>
              </a:p>
              <a:p>
                <a:pPr algn="just"/>
                <a:endParaRPr lang="ar-AE" sz="2000" dirty="0"/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1900" b="1" i="1">
                        <a:latin typeface="Cambria Math" panose="02040503050406030204" pitchFamily="18" charset="0"/>
                      </a:rPr>
                      <m:t>𝑷𝒓𝒆𝒄𝒊𝒔𝒊𝒐𝒏</m:t>
                    </m:r>
                    <m:r>
                      <a:rPr lang="en-IN" sz="19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ar-AE" sz="19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endParaRPr lang="ar-AE" sz="19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04413D-B392-52FE-9B65-0ECB771D2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41" y="4322845"/>
                <a:ext cx="4288492" cy="2011576"/>
              </a:xfrm>
              <a:prstGeom prst="rect">
                <a:avLst/>
              </a:prstGeom>
              <a:blipFill>
                <a:blip r:embed="rId2"/>
                <a:stretch>
                  <a:fillRect l="-1138" b="-42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F11560-1F99-A679-1230-0650D743455F}"/>
                  </a:ext>
                </a:extLst>
              </p:cNvPr>
              <p:cNvSpPr txBox="1"/>
              <p:nvPr/>
            </p:nvSpPr>
            <p:spPr>
              <a:xfrm>
                <a:off x="4354833" y="4365921"/>
                <a:ext cx="4685120" cy="1155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0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Recall </a:t>
                </a:r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:r>
                  <a:rPr lang="en-IN" sz="19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TP+FNTP​ </a:t>
                </a:r>
                <a:endParaRPr lang="en-IN" sz="19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IN" sz="2000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900" b="1" i="1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IN" sz="1900" b="1" i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900" b="1" i="0" smtClean="0">
                        <a:latin typeface="Cambria Math" panose="02040503050406030204" pitchFamily="18" charset="0"/>
                      </a:rPr>
                      <m:t>𝐒𝐜𝐨𝐫𝐞</m:t>
                    </m:r>
                    <m:r>
                      <a:rPr lang="en-IN" sz="19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9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1900" i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ar-AE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ar-AE" sz="1900" i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𝑅𝑒𝑐𝑎𝑙𝑙</m:t>
                        </m:r>
                      </m:num>
                      <m:den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ar-AE" sz="19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1900" i="1">
                            <a:latin typeface="Cambria Math" panose="02040503050406030204" pitchFamily="18" charset="0"/>
                          </a:rPr>
                          <m:t>𝑅𝑒𝑐𝑎𝑙𝑙</m:t>
                        </m:r>
                      </m:den>
                    </m:f>
                  </m:oMath>
                </a14:m>
                <a:endParaRPr lang="ar-AE" sz="19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F11560-1F99-A679-1230-0650D7434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833" y="4365921"/>
                <a:ext cx="4685120" cy="1155701"/>
              </a:xfrm>
              <a:prstGeom prst="rect">
                <a:avLst/>
              </a:prstGeom>
              <a:blipFill>
                <a:blip r:embed="rId3"/>
                <a:stretch>
                  <a:fillRect l="-1170" t="-26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9ABA667-B32A-F86E-DFFC-7EAF7C1ABF74}"/>
              </a:ext>
            </a:extLst>
          </p:cNvPr>
          <p:cNvSpPr txBox="1"/>
          <p:nvPr/>
        </p:nvSpPr>
        <p:spPr>
          <a:xfrm>
            <a:off x="2670585" y="3948073"/>
            <a:ext cx="46474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u="sng" dirty="0"/>
              <a:t>Evaluation Metrics &amp; Formulae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DE2DF9-B91F-3DF4-F20C-B826A7A66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171675"/>
              </p:ext>
            </p:extLst>
          </p:nvPr>
        </p:nvGraphicFramePr>
        <p:xfrm>
          <a:off x="188006" y="1199730"/>
          <a:ext cx="8851948" cy="2773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2075">
                  <a:extLst>
                    <a:ext uri="{9D8B030D-6E8A-4147-A177-3AD203B41FA5}">
                      <a16:colId xmlns:a16="http://schemas.microsoft.com/office/drawing/2014/main" val="964950907"/>
                    </a:ext>
                  </a:extLst>
                </a:gridCol>
                <a:gridCol w="1291119">
                  <a:extLst>
                    <a:ext uri="{9D8B030D-6E8A-4147-A177-3AD203B41FA5}">
                      <a16:colId xmlns:a16="http://schemas.microsoft.com/office/drawing/2014/main" val="3569060732"/>
                    </a:ext>
                  </a:extLst>
                </a:gridCol>
                <a:gridCol w="1301003">
                  <a:extLst>
                    <a:ext uri="{9D8B030D-6E8A-4147-A177-3AD203B41FA5}">
                      <a16:colId xmlns:a16="http://schemas.microsoft.com/office/drawing/2014/main" val="3715731398"/>
                    </a:ext>
                  </a:extLst>
                </a:gridCol>
                <a:gridCol w="1515917">
                  <a:extLst>
                    <a:ext uri="{9D8B030D-6E8A-4147-A177-3AD203B41FA5}">
                      <a16:colId xmlns:a16="http://schemas.microsoft.com/office/drawing/2014/main" val="2628254435"/>
                    </a:ext>
                  </a:extLst>
                </a:gridCol>
                <a:gridCol w="1515917">
                  <a:extLst>
                    <a:ext uri="{9D8B030D-6E8A-4147-A177-3AD203B41FA5}">
                      <a16:colId xmlns:a16="http://schemas.microsoft.com/office/drawing/2014/main" val="1545922903"/>
                    </a:ext>
                  </a:extLst>
                </a:gridCol>
                <a:gridCol w="1515917">
                  <a:extLst>
                    <a:ext uri="{9D8B030D-6E8A-4147-A177-3AD203B41FA5}">
                      <a16:colId xmlns:a16="http://schemas.microsoft.com/office/drawing/2014/main" val="3312137028"/>
                    </a:ext>
                  </a:extLst>
                </a:gridCol>
              </a:tblGrid>
              <a:tr h="89852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b="1" dirty="0"/>
                        <a:t>Models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b="1" dirty="0"/>
                        <a:t>Accuracy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b="1" dirty="0"/>
                        <a:t>Precision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b="1" dirty="0"/>
                        <a:t>Recall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800" b="1" dirty="0"/>
                    </a:p>
                    <a:p>
                      <a:pPr algn="l"/>
                      <a:r>
                        <a:rPr lang="en-US" sz="2000" b="1" dirty="0"/>
                        <a:t>F1 Score </a:t>
                      </a:r>
                    </a:p>
                    <a:p>
                      <a:pPr algn="just"/>
                      <a:r>
                        <a:rPr lang="en-IN" sz="1800" b="1" dirty="0"/>
                        <a:t> 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2000" b="1" dirty="0"/>
                        <a:t>Loss</a:t>
                      </a:r>
                      <a:endParaRPr lang="en-IN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798144"/>
                  </a:ext>
                </a:extLst>
              </a:tr>
              <a:tr h="3478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/>
                        <a:t>NN (CNN)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99.42%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99.23%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99.22%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99.22%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0.021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258869"/>
                  </a:ext>
                </a:extLst>
              </a:tr>
              <a:tr h="3478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/>
                        <a:t>LDA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99.05%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99.05%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99.05%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99.05%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0.0753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463635"/>
                  </a:ext>
                </a:extLst>
              </a:tr>
              <a:tr h="3478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/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99.35%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99.36%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99.35%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99.35%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--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866665"/>
                  </a:ext>
                </a:extLst>
              </a:tr>
              <a:tr h="3478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/>
                        <a:t>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99.44%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99.44%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99.44%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99.44%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0.0203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34398"/>
                  </a:ext>
                </a:extLst>
              </a:tr>
              <a:tr h="3478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800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90.64%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90.78%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90.64%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90.65%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0.6325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137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763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737B3-10DC-C4BE-96CE-6B6695777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4E001-09E1-017D-4C0C-A73727299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and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7AED5-A098-A2B8-EDA7-F11E83705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                                       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8D66B-FCA5-0AE4-5D18-F38DC3F6E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59030-E9C7-4BF7-BDDE-D8A9DA1DC43E}" type="datetime1">
              <a:rPr lang="en-IN" smtClean="0"/>
              <a:t>26-05-2026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08A88-338E-70B5-3DE6-5D4404DEF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8</a:t>
            </a:fld>
            <a:endParaRPr lang="en-IN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C0B19FD-D98C-1817-81C8-F415041729C0}"/>
              </a:ext>
            </a:extLst>
          </p:cNvPr>
          <p:cNvSpPr txBox="1">
            <a:spLocks/>
          </p:cNvSpPr>
          <p:nvPr/>
        </p:nvSpPr>
        <p:spPr>
          <a:xfrm>
            <a:off x="3141887" y="914629"/>
            <a:ext cx="2723536" cy="765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u="sng" dirty="0">
                <a:latin typeface="Bahnschrift SemiCondensed" panose="020B0502040204020203" pitchFamily="34" charset="0"/>
              </a:rPr>
              <a:t>IIT MADRAS DATASET</a:t>
            </a:r>
            <a:endParaRPr lang="en-IN" sz="2400" b="1" u="sng" dirty="0">
              <a:latin typeface="Bahnschrift SemiCondensed" panose="020B0502040204020203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03409AB-262C-3137-8A2E-FB0F424DE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873614"/>
              </p:ext>
            </p:extLst>
          </p:nvPr>
        </p:nvGraphicFramePr>
        <p:xfrm>
          <a:off x="320511" y="1833529"/>
          <a:ext cx="8366288" cy="29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9691">
                  <a:extLst>
                    <a:ext uri="{9D8B030D-6E8A-4147-A177-3AD203B41FA5}">
                      <a16:colId xmlns:a16="http://schemas.microsoft.com/office/drawing/2014/main" val="174369158"/>
                    </a:ext>
                  </a:extLst>
                </a:gridCol>
                <a:gridCol w="1198282">
                  <a:extLst>
                    <a:ext uri="{9D8B030D-6E8A-4147-A177-3AD203B41FA5}">
                      <a16:colId xmlns:a16="http://schemas.microsoft.com/office/drawing/2014/main" val="3622414735"/>
                    </a:ext>
                  </a:extLst>
                </a:gridCol>
                <a:gridCol w="1334166">
                  <a:extLst>
                    <a:ext uri="{9D8B030D-6E8A-4147-A177-3AD203B41FA5}">
                      <a16:colId xmlns:a16="http://schemas.microsoft.com/office/drawing/2014/main" val="2964726033"/>
                    </a:ext>
                  </a:extLst>
                </a:gridCol>
                <a:gridCol w="1415696">
                  <a:extLst>
                    <a:ext uri="{9D8B030D-6E8A-4147-A177-3AD203B41FA5}">
                      <a16:colId xmlns:a16="http://schemas.microsoft.com/office/drawing/2014/main" val="216749599"/>
                    </a:ext>
                  </a:extLst>
                </a:gridCol>
                <a:gridCol w="1379073">
                  <a:extLst>
                    <a:ext uri="{9D8B030D-6E8A-4147-A177-3AD203B41FA5}">
                      <a16:colId xmlns:a16="http://schemas.microsoft.com/office/drawing/2014/main" val="1929739762"/>
                    </a:ext>
                  </a:extLst>
                </a:gridCol>
                <a:gridCol w="1389380">
                  <a:extLst>
                    <a:ext uri="{9D8B030D-6E8A-4147-A177-3AD203B41FA5}">
                      <a16:colId xmlns:a16="http://schemas.microsoft.com/office/drawing/2014/main" val="1658679649"/>
                    </a:ext>
                  </a:extLst>
                </a:gridCol>
              </a:tblGrid>
              <a:tr h="576131"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/>
                        <a:t>Model Architecture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/>
                        <a:t>Accuracy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/>
                        <a:t>Loss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/>
                        <a:t>Precision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/>
                        <a:t>Recall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dirty="0"/>
                        <a:t>F1 Score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952955"/>
                  </a:ext>
                </a:extLst>
              </a:tr>
              <a:tr h="576131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/>
                        <a:t>RGB+GRAY MODEL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99.22%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0.026653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0.991667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0.992559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/>
                        <a:t>0.992089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80285"/>
                  </a:ext>
                </a:extLst>
              </a:tr>
              <a:tr h="771656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/>
                        <a:t>SPECTROGRAM MODEL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US" sz="1800" dirty="0"/>
                    </a:p>
                    <a:p>
                      <a:pPr algn="just"/>
                      <a:r>
                        <a:rPr lang="en-US" sz="1800" dirty="0"/>
                        <a:t>98.85%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0.039875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0.989533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US" sz="1800" dirty="0"/>
                    </a:p>
                    <a:p>
                      <a:pPr algn="just"/>
                      <a:r>
                        <a:rPr lang="en-US" sz="1800" dirty="0"/>
                        <a:t>0.986193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US" sz="1800" dirty="0"/>
                    </a:p>
                    <a:p>
                      <a:pPr algn="just"/>
                      <a:r>
                        <a:rPr lang="en-US" sz="1800" dirty="0"/>
                        <a:t>0.987770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14771"/>
                  </a:ext>
                </a:extLst>
              </a:tr>
              <a:tr h="823044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PROPOSED DNN FUSION MODEL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US" sz="1800" b="1" i="0" dirty="0"/>
                    </a:p>
                    <a:p>
                      <a:pPr algn="just"/>
                      <a:r>
                        <a:rPr lang="en-US" sz="1800" b="1" i="0" dirty="0">
                          <a:solidFill>
                            <a:srgbClr val="C00000"/>
                          </a:solidFill>
                        </a:rPr>
                        <a:t>99.60%</a:t>
                      </a:r>
                      <a:endParaRPr lang="en-IN" sz="1800" b="1" i="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0.014170</a:t>
                      </a:r>
                      <a:endParaRPr lang="en-IN" sz="180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/>
                        <a:t>0.996138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endParaRPr lang="en-US" sz="1800" dirty="0"/>
                    </a:p>
                    <a:p>
                      <a:pPr algn="just"/>
                      <a:r>
                        <a:rPr lang="en-US" sz="1800" dirty="0"/>
                        <a:t>0.995648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US" sz="1800" dirty="0"/>
                    </a:p>
                    <a:p>
                      <a:pPr algn="just"/>
                      <a:r>
                        <a:rPr lang="en-US" sz="1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0.995888</a:t>
                      </a:r>
                      <a:endParaRPr lang="en-IN" sz="1800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561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011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7E52-2711-473A-AC53-236FCF425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006" y="215367"/>
            <a:ext cx="8785077" cy="632387"/>
          </a:xfrm>
        </p:spPr>
        <p:txBody>
          <a:bodyPr>
            <a:normAutofit fontScale="90000"/>
          </a:bodyPr>
          <a:lstStyle/>
          <a:p>
            <a:r>
              <a:rPr lang="en-US" dirty="0"/>
              <a:t> Evaluation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D8265-FD7E-4E76-B775-AFBB4B1AA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749E-3FF3-41B2-B4DE-BB379C572509}" type="datetime1">
              <a:rPr lang="en-IN" smtClean="0"/>
              <a:t>26-05-2026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5362E-35ED-487C-AD91-5EC2CA1E8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9</a:t>
            </a:fld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5E23D7-A52C-BBC1-B542-686E5C151906}"/>
              </a:ext>
            </a:extLst>
          </p:cNvPr>
          <p:cNvSpPr txBox="1"/>
          <p:nvPr/>
        </p:nvSpPr>
        <p:spPr>
          <a:xfrm>
            <a:off x="188006" y="954983"/>
            <a:ext cx="5944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u="sng" dirty="0"/>
              <a:t>RGB CNN Model Performance Analysis</a:t>
            </a:r>
            <a:endParaRPr lang="en-IN" sz="2100" b="1" i="1" u="sng" dirty="0">
              <a:latin typeface="Bahnschrift SemiBold SemiConden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DC6437-1BE3-0216-5E37-8D2F78901A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08"/>
          <a:stretch>
            <a:fillRect/>
          </a:stretch>
        </p:blipFill>
        <p:spPr>
          <a:xfrm>
            <a:off x="0" y="1416648"/>
            <a:ext cx="8785077" cy="39000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B07809-9F11-84AE-2B3D-9B9E0678EAAB}"/>
              </a:ext>
            </a:extLst>
          </p:cNvPr>
          <p:cNvSpPr txBox="1"/>
          <p:nvPr/>
        </p:nvSpPr>
        <p:spPr>
          <a:xfrm>
            <a:off x="1420227" y="5272075"/>
            <a:ext cx="28595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Fig1. RGB CNN Model Accuracy</a:t>
            </a:r>
            <a:endParaRPr lang="en-IN" sz="1600" b="1" dirty="0">
              <a:latin typeface="Bahnschrift SemiBold SemiConden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C1463-992A-F8D8-08E7-8B5A4846E2DC}"/>
              </a:ext>
            </a:extLst>
          </p:cNvPr>
          <p:cNvSpPr txBox="1"/>
          <p:nvPr/>
        </p:nvSpPr>
        <p:spPr>
          <a:xfrm>
            <a:off x="5558064" y="5272075"/>
            <a:ext cx="28595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Fig2. RGB CNN Model Loss</a:t>
            </a:r>
            <a:endParaRPr lang="en-IN" sz="1600" b="1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233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D1BC2-B53F-7C9D-0D55-42FCAB3A8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8E377-6AD3-54A6-8509-57712B890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006" y="215367"/>
            <a:ext cx="8785077" cy="632387"/>
          </a:xfrm>
        </p:spPr>
        <p:txBody>
          <a:bodyPr>
            <a:normAutofit fontScale="90000"/>
          </a:bodyPr>
          <a:lstStyle/>
          <a:p>
            <a:r>
              <a:rPr lang="en-US" dirty="0"/>
              <a:t> Evaluation(continued)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77981-AF3F-6E32-EAE6-9E4C29F5C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749E-3FF3-41B2-B4DE-BB379C572509}" type="datetime1">
              <a:rPr lang="en-IN" smtClean="0"/>
              <a:t>26-05-2026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E477C-17E5-7D27-3E05-6441263B0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10</a:t>
            </a:fld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50FD484-566D-2BE0-4ABF-FBD7A3ABAD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798" t="6418" b="-448"/>
          <a:stretch>
            <a:fillRect/>
          </a:stretch>
        </p:blipFill>
        <p:spPr>
          <a:xfrm>
            <a:off x="329938" y="1832973"/>
            <a:ext cx="8446417" cy="38799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2B123B-59FB-5112-BD7F-12F6E60BC421}"/>
              </a:ext>
            </a:extLst>
          </p:cNvPr>
          <p:cNvSpPr txBox="1"/>
          <p:nvPr/>
        </p:nvSpPr>
        <p:spPr>
          <a:xfrm>
            <a:off x="170917" y="1036374"/>
            <a:ext cx="5944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u="sng" dirty="0"/>
              <a:t> Spectrogram Model Performance Analysis</a:t>
            </a:r>
            <a:endParaRPr lang="en-IN" sz="2100" b="1" i="1" u="sng" dirty="0">
              <a:latin typeface="Bahnschrift SemiBold SemiConden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F8FF4B-FC08-A728-B1F2-1D0F9C71FDC8}"/>
              </a:ext>
            </a:extLst>
          </p:cNvPr>
          <p:cNvSpPr txBox="1"/>
          <p:nvPr/>
        </p:nvSpPr>
        <p:spPr>
          <a:xfrm>
            <a:off x="1375873" y="5530203"/>
            <a:ext cx="3114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Fig3. Spectrogram Model Accuracy</a:t>
            </a:r>
            <a:endParaRPr lang="en-IN" sz="1600" b="1" dirty="0">
              <a:latin typeface="Bahnschrift SemiBold SemiConden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8E5FCC-95B8-6CFF-F21E-8B93B54861F8}"/>
              </a:ext>
            </a:extLst>
          </p:cNvPr>
          <p:cNvSpPr txBox="1"/>
          <p:nvPr/>
        </p:nvSpPr>
        <p:spPr>
          <a:xfrm>
            <a:off x="5535874" y="5530203"/>
            <a:ext cx="3114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Fig4. Spectrogram Model Loss</a:t>
            </a:r>
            <a:endParaRPr lang="en-IN" sz="1600" b="1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033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3A555-7611-D13F-B818-9BFF4A800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0847D-2052-9F8B-8C2B-A6C153563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006" y="215367"/>
            <a:ext cx="8785077" cy="632387"/>
          </a:xfrm>
        </p:spPr>
        <p:txBody>
          <a:bodyPr>
            <a:normAutofit fontScale="90000"/>
          </a:bodyPr>
          <a:lstStyle/>
          <a:p>
            <a:r>
              <a:rPr lang="en-US" dirty="0"/>
              <a:t> Evaluation(continued)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85061-C378-5952-9B4A-AA8754A88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749E-3FF3-41B2-B4DE-BB379C572509}" type="datetime1">
              <a:rPr lang="en-IN" smtClean="0"/>
              <a:t>26-05-2026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39238-A3FB-FB54-DB24-A0C40860A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11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7B72A4-DA22-DD51-ABDA-790DA386753A}"/>
              </a:ext>
            </a:extLst>
          </p:cNvPr>
          <p:cNvSpPr txBox="1"/>
          <p:nvPr/>
        </p:nvSpPr>
        <p:spPr>
          <a:xfrm>
            <a:off x="170917" y="1036374"/>
            <a:ext cx="59446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u="sng" dirty="0"/>
              <a:t> Fusion Model Performance Analysis</a:t>
            </a:r>
            <a:endParaRPr lang="en-IN" sz="2100" b="1" i="1" u="sng" dirty="0">
              <a:latin typeface="Bahnschrift SemiBold SemiConden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9B8B91-E79C-4AC6-5995-E57EBADD2E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22"/>
          <a:stretch>
            <a:fillRect/>
          </a:stretch>
        </p:blipFill>
        <p:spPr>
          <a:xfrm>
            <a:off x="54797" y="1753386"/>
            <a:ext cx="8955993" cy="36293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7F013B8-93E9-37FD-F22D-DF3B7F146031}"/>
              </a:ext>
            </a:extLst>
          </p:cNvPr>
          <p:cNvSpPr txBox="1"/>
          <p:nvPr/>
        </p:nvSpPr>
        <p:spPr>
          <a:xfrm>
            <a:off x="1375873" y="5213429"/>
            <a:ext cx="3114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Fig5. Fusion Model Accuracy</a:t>
            </a:r>
            <a:endParaRPr lang="en-IN" sz="1600" b="1" dirty="0">
              <a:latin typeface="Bahnschrift SemiBold SemiConden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DE2DBD-A0F4-E9C1-9370-75A9D94290B0}"/>
              </a:ext>
            </a:extLst>
          </p:cNvPr>
          <p:cNvSpPr txBox="1"/>
          <p:nvPr/>
        </p:nvSpPr>
        <p:spPr>
          <a:xfrm>
            <a:off x="5572733" y="5213024"/>
            <a:ext cx="31140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Fig6. Fusion Model Loss</a:t>
            </a:r>
            <a:endParaRPr lang="en-IN" sz="1600" b="1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581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DF1BE-D7E4-2DEF-341B-14F5EAC77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F267C-6546-B663-5418-F9FA75209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006" y="215367"/>
            <a:ext cx="8785077" cy="632387"/>
          </a:xfrm>
        </p:spPr>
        <p:txBody>
          <a:bodyPr>
            <a:normAutofit fontScale="90000"/>
          </a:bodyPr>
          <a:lstStyle/>
          <a:p>
            <a:r>
              <a:rPr lang="en-US" dirty="0"/>
              <a:t> Confusion Matrix Analysis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E6536-35BA-DE7E-0354-8C757A194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749E-3FF3-41B2-B4DE-BB379C572509}" type="datetime1">
              <a:rPr lang="en-IN" smtClean="0"/>
              <a:t>26-05-2026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CA960-47D1-93FC-174A-21BD95C7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12</a:t>
            </a:fld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D0C173-84E2-F88B-EB33-41F350BA1C98}"/>
              </a:ext>
            </a:extLst>
          </p:cNvPr>
          <p:cNvSpPr txBox="1"/>
          <p:nvPr/>
        </p:nvSpPr>
        <p:spPr>
          <a:xfrm>
            <a:off x="442530" y="3619092"/>
            <a:ext cx="160329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i="1" dirty="0"/>
              <a:t>Fig1 RGB Model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C29AE5-46C0-3BED-999E-BA93B6AF5411}"/>
              </a:ext>
            </a:extLst>
          </p:cNvPr>
          <p:cNvSpPr txBox="1"/>
          <p:nvPr/>
        </p:nvSpPr>
        <p:spPr>
          <a:xfrm>
            <a:off x="5645124" y="3790101"/>
            <a:ext cx="458343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i="1" dirty="0"/>
              <a:t>Fig2 Spectrogram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105DA1-5A4A-381E-1831-7342AC26058B}"/>
              </a:ext>
            </a:extLst>
          </p:cNvPr>
          <p:cNvSpPr txBox="1"/>
          <p:nvPr/>
        </p:nvSpPr>
        <p:spPr>
          <a:xfrm>
            <a:off x="5713301" y="5833709"/>
            <a:ext cx="116014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i="1" dirty="0"/>
              <a:t>Fig3 Fusion</a:t>
            </a:r>
          </a:p>
          <a:p>
            <a:endParaRPr lang="en-IN" sz="1000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27E63A-833D-EA5D-42E5-588E29969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7" y="885996"/>
            <a:ext cx="3561042" cy="28375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FBA59E-D583-C134-7A4C-DC2A827D0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672" y="930364"/>
            <a:ext cx="4655250" cy="29035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6D8DE0F-862C-6FAF-3AB5-A69681274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6212" y="3634516"/>
            <a:ext cx="3867089" cy="260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849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F4E6C-8F8C-934B-70D6-08886CBAD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BC1BB-91E7-3229-940D-B3BCFC41A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005" y="71233"/>
            <a:ext cx="8785077" cy="632387"/>
          </a:xfrm>
        </p:spPr>
        <p:txBody>
          <a:bodyPr>
            <a:normAutofit fontScale="90000"/>
          </a:bodyPr>
          <a:lstStyle/>
          <a:p>
            <a:r>
              <a:rPr lang="en-US" dirty="0"/>
              <a:t> ROC Curve Analysis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17B98-36C1-DAE9-8402-0303E57AB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8749E-3FF3-41B2-B4DE-BB379C572509}" type="datetime1">
              <a:rPr lang="en-IN" smtClean="0"/>
              <a:t>26-05-2026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375D5-7EB4-A722-F61B-329EB508A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050889-90E1-73EE-CE0C-ED4D459157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10705"/>
            <a:ext cx="4212022" cy="28280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EB8E2B-D9B7-1791-8F4F-8096DFE4D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7987" y="716437"/>
            <a:ext cx="4138368" cy="292230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CFE594B-F7DD-3DCD-8E77-AD389F922E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8738" y="3429000"/>
            <a:ext cx="3959258" cy="28052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D42E8E2-6671-C3C7-B6A3-2D295C0984D4}"/>
              </a:ext>
            </a:extLst>
          </p:cNvPr>
          <p:cNvSpPr txBox="1"/>
          <p:nvPr/>
        </p:nvSpPr>
        <p:spPr>
          <a:xfrm>
            <a:off x="1018094" y="3477163"/>
            <a:ext cx="145283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i="1" dirty="0"/>
              <a:t>Fig1 RGB Model</a:t>
            </a:r>
            <a:endParaRPr lang="en-IN" sz="1500" b="1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4F5A26-3A64-E4CB-D0BF-B2DF82C1A218}"/>
              </a:ext>
            </a:extLst>
          </p:cNvPr>
          <p:cNvSpPr txBox="1"/>
          <p:nvPr/>
        </p:nvSpPr>
        <p:spPr>
          <a:xfrm>
            <a:off x="5960061" y="3489980"/>
            <a:ext cx="162711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i="1" dirty="0"/>
              <a:t>Fig2 Fusion Model</a:t>
            </a:r>
            <a:endParaRPr lang="en-IN" sz="1500" b="1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81C2AC-547F-905D-AE10-80756078712D}"/>
              </a:ext>
            </a:extLst>
          </p:cNvPr>
          <p:cNvSpPr txBox="1"/>
          <p:nvPr/>
        </p:nvSpPr>
        <p:spPr>
          <a:xfrm>
            <a:off x="5218893" y="5965795"/>
            <a:ext cx="213872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i="1" dirty="0"/>
              <a:t>Fig3 Spectrogram Model</a:t>
            </a:r>
            <a:endParaRPr lang="en-IN" sz="1500" b="1" i="1" dirty="0"/>
          </a:p>
        </p:txBody>
      </p:sp>
    </p:spTree>
    <p:extLst>
      <p:ext uri="{BB962C8B-B14F-4D97-AF65-F5344CB8AC3E}">
        <p14:creationId xmlns:p14="http://schemas.microsoft.com/office/powerpoint/2010/main" val="2004050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D0B97-1C21-4A32-861A-6E70F0245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Socio-economic Issues Associated With The Project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5A598-C2E5-42E0-9AF6-437597021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006" y="1010097"/>
            <a:ext cx="8666436" cy="5195843"/>
          </a:xfrm>
        </p:spPr>
        <p:txBody>
          <a:bodyPr numCol="1">
            <a:normAutofit/>
          </a:bodyPr>
          <a:lstStyle/>
          <a:p>
            <a:pPr algn="just"/>
            <a:r>
              <a:rPr lang="en-US" sz="2000" b="1" dirty="0"/>
              <a:t>Digital Divide:- </a:t>
            </a:r>
            <a:r>
              <a:rPr lang="en-US" sz="2000" dirty="0"/>
              <a:t>Rural communities lack tech access for ML language tools.</a:t>
            </a:r>
          </a:p>
          <a:p>
            <a:pPr algn="just"/>
            <a:r>
              <a:rPr lang="en-US" sz="2000" dirty="0"/>
              <a:t> </a:t>
            </a:r>
            <a:r>
              <a:rPr lang="en-US" sz="2000" b="1" dirty="0"/>
              <a:t>Language Bias:- </a:t>
            </a:r>
            <a:r>
              <a:rPr lang="en-US" sz="2000" dirty="0"/>
              <a:t>Minority languages get less data, lowering model accuracy. </a:t>
            </a:r>
          </a:p>
          <a:p>
            <a:pPr algn="just"/>
            <a:r>
              <a:rPr lang="en-US" sz="2000" b="1" dirty="0"/>
              <a:t>Job Displacement:-</a:t>
            </a:r>
            <a:r>
              <a:rPr lang="en-US" sz="2000" dirty="0"/>
              <a:t>Automation threatens human translators and transcriptionists. </a:t>
            </a:r>
          </a:p>
          <a:p>
            <a:pPr algn="just"/>
            <a:r>
              <a:rPr lang="en-US" sz="2000" b="1" dirty="0"/>
              <a:t>Cultural Preservation:- </a:t>
            </a:r>
            <a:r>
              <a:rPr lang="en-US" sz="2000" dirty="0"/>
              <a:t>Models may miss dialects, risking linguistic diversity loss. </a:t>
            </a:r>
          </a:p>
          <a:p>
            <a:pPr algn="just"/>
            <a:r>
              <a:rPr lang="en-US" sz="2000" b="1" dirty="0"/>
              <a:t>Privacy Concerns:- </a:t>
            </a:r>
            <a:r>
              <a:rPr lang="en-US" sz="2000" dirty="0"/>
              <a:t>Voice data collection raises consent and misuse issues. </a:t>
            </a:r>
          </a:p>
          <a:p>
            <a:pPr algn="just"/>
            <a:r>
              <a:rPr lang="en-US" sz="2000" b="1" dirty="0"/>
              <a:t>Social Inclusion:- </a:t>
            </a:r>
            <a:r>
              <a:rPr lang="en-US" sz="2000" dirty="0"/>
              <a:t>Enables native-language access to healthcare, banking and  governance. </a:t>
            </a:r>
          </a:p>
          <a:p>
            <a:pPr algn="just"/>
            <a:r>
              <a:rPr lang="en-US" sz="2000" b="1" dirty="0"/>
              <a:t>High Development Cost:- </a:t>
            </a:r>
            <a:r>
              <a:rPr lang="en-US" sz="2000" dirty="0"/>
              <a:t>Multi-language ML systems need significant funding and resources.</a:t>
            </a:r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BF931-02A5-4CBE-AD81-CB78193B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EF6EB-ED59-4773-A66C-8FC357B65427}" type="datetime1">
              <a:rPr lang="en-IN" smtClean="0"/>
              <a:t>26-05-2026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3F4DB-60A8-4AC8-809B-BC1EF8ADE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421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0A0E0-DFCB-4951-95D6-C4681F73E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Engineering Tools And Standards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7E2DF-CB24-4819-AAB2-4E04F8FBD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48" y="875743"/>
            <a:ext cx="8879793" cy="5195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900" b="1" i="1" u="sng" dirty="0"/>
              <a:t>Engineering Tools:-</a:t>
            </a:r>
          </a:p>
          <a:p>
            <a:r>
              <a:rPr lang="en-IN" sz="1800" b="1" dirty="0"/>
              <a:t>Python</a:t>
            </a:r>
            <a:r>
              <a:rPr lang="en-IN" sz="1800" dirty="0"/>
              <a:t> – Core programming language</a:t>
            </a:r>
          </a:p>
          <a:p>
            <a:r>
              <a:rPr lang="en-IN" sz="1800" b="1" dirty="0"/>
              <a:t>TensorFlow &amp; Keras</a:t>
            </a:r>
            <a:r>
              <a:rPr lang="en-IN" sz="1800" dirty="0"/>
              <a:t> – CNN model development</a:t>
            </a:r>
          </a:p>
          <a:p>
            <a:r>
              <a:rPr lang="en-IN" sz="1800" b="1" dirty="0"/>
              <a:t>Scikit‑learn</a:t>
            </a:r>
            <a:r>
              <a:rPr lang="en-IN" sz="1800" dirty="0"/>
              <a:t> – ML algorithms &amp; evaluation</a:t>
            </a:r>
          </a:p>
          <a:p>
            <a:r>
              <a:rPr lang="en-IN" sz="1800" b="1" dirty="0"/>
              <a:t>Librosa</a:t>
            </a:r>
            <a:r>
              <a:rPr lang="en-IN" sz="1800" dirty="0"/>
              <a:t> – Audio feature extraction</a:t>
            </a:r>
          </a:p>
          <a:p>
            <a:r>
              <a:rPr lang="en-IN" sz="1800" b="1" dirty="0"/>
              <a:t>NumPy &amp; Pandas</a:t>
            </a:r>
            <a:r>
              <a:rPr lang="en-IN" sz="1800" dirty="0"/>
              <a:t> – Data handling &amp; processing</a:t>
            </a:r>
          </a:p>
          <a:p>
            <a:r>
              <a:rPr lang="en-IN" sz="1800" b="1" dirty="0"/>
              <a:t>Matplotlib</a:t>
            </a:r>
            <a:r>
              <a:rPr lang="en-IN" sz="1800" dirty="0"/>
              <a:t> – Performance visualization</a:t>
            </a:r>
          </a:p>
          <a:p>
            <a:r>
              <a:rPr lang="en-IN" sz="1800" b="1" dirty="0"/>
              <a:t>Google Colab/Jupyter</a:t>
            </a:r>
            <a:r>
              <a:rPr lang="en-IN" sz="1800" dirty="0"/>
              <a:t> – Model training environment</a:t>
            </a:r>
          </a:p>
          <a:p>
            <a:endParaRPr lang="en-IN" sz="1600" dirty="0"/>
          </a:p>
          <a:p>
            <a:endParaRPr lang="en-IN" sz="1600" dirty="0"/>
          </a:p>
          <a:p>
            <a:pPr marL="0" indent="0">
              <a:buNone/>
            </a:pPr>
            <a:endParaRPr lang="en-IN" sz="2400" b="1" i="1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D727B-5938-450A-A78C-634022352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31420-AA15-49AF-B1FE-F9C592D22DE5}" type="datetime1">
              <a:rPr lang="en-IN" smtClean="0"/>
              <a:t>26-05-2026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1C90D-70D5-4FC6-B602-E1E97B5B1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587883-1685-A7CB-434E-3B1012F46F15}"/>
              </a:ext>
            </a:extLst>
          </p:cNvPr>
          <p:cNvSpPr txBox="1"/>
          <p:nvPr/>
        </p:nvSpPr>
        <p:spPr>
          <a:xfrm>
            <a:off x="188006" y="3608018"/>
            <a:ext cx="729996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600" b="1" i="1" u="sng" dirty="0">
              <a:latin typeface="Book Antiqua" panose="02040602050305030304" pitchFamily="18" charset="0"/>
            </a:endParaRPr>
          </a:p>
          <a:p>
            <a:r>
              <a:rPr lang="en-IN" sz="1900" b="1" i="1" u="sng" dirty="0">
                <a:latin typeface="Book Antiqua" panose="02040602050305030304" pitchFamily="18" charset="0"/>
              </a:rPr>
              <a:t>Standards:-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Book Antiqua" panose="02040602050305030304" pitchFamily="18" charset="0"/>
              </a:rPr>
              <a:t>Mel Spectrogram &amp; MFCC</a:t>
            </a:r>
            <a:r>
              <a:rPr lang="en-IN" dirty="0">
                <a:latin typeface="Book Antiqua" panose="02040602050305030304" pitchFamily="18" charset="0"/>
              </a:rPr>
              <a:t> – Key audio features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Book Antiqua" panose="02040602050305030304" pitchFamily="18" charset="0"/>
              </a:rPr>
              <a:t>16 kHz / 48 kHz</a:t>
            </a:r>
            <a:r>
              <a:rPr lang="en-IN" dirty="0">
                <a:latin typeface="Book Antiqua" panose="02040602050305030304" pitchFamily="18" charset="0"/>
              </a:rPr>
              <a:t> – Standardized audio processing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Book Antiqua" panose="02040602050305030304" pitchFamily="18" charset="0"/>
              </a:rPr>
              <a:t>CNN Classification</a:t>
            </a:r>
            <a:r>
              <a:rPr lang="en-IN" dirty="0">
                <a:latin typeface="Book Antiqua" panose="02040602050305030304" pitchFamily="18" charset="0"/>
              </a:rPr>
              <a:t> – Deep learning for language ID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Book Antiqua" panose="02040602050305030304" pitchFamily="18" charset="0"/>
              </a:rPr>
              <a:t>Accuracy, Precision, Recall, F1</a:t>
            </a:r>
            <a:r>
              <a:rPr lang="en-IN" dirty="0">
                <a:latin typeface="Book Antiqua" panose="02040602050305030304" pitchFamily="18" charset="0"/>
              </a:rPr>
              <a:t> – Performance evaluation metrics</a:t>
            </a:r>
          </a:p>
          <a:p>
            <a:endParaRPr lang="en-IN" sz="2400" b="1" i="1" u="sng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427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D7175-3415-4E7F-85D7-CED09DAEE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C8ECE-3AB1-4945-A019-62B3816AE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006" y="1008404"/>
            <a:ext cx="8541215" cy="5195843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Proposed Fusion Model achieved the best overall performance on both datasets. </a:t>
            </a:r>
          </a:p>
          <a:p>
            <a:pPr algn="just"/>
            <a:r>
              <a:rPr lang="en-IN" sz="2400" dirty="0"/>
              <a:t>Highest accuracy achieved: </a:t>
            </a:r>
            <a:r>
              <a:rPr lang="en-IN" sz="2400" b="1" dirty="0"/>
              <a:t>100%</a:t>
            </a:r>
            <a:r>
              <a:rPr lang="en-IN" sz="2400" dirty="0"/>
              <a:t> with minimum loss on IIT Hyderabad dataset. </a:t>
            </a:r>
          </a:p>
          <a:p>
            <a:pPr algn="just"/>
            <a:r>
              <a:rPr lang="en-IN" sz="2400" dirty="0"/>
              <a:t>Fusion of RGB, Grayscale, and Spectrogram features improved classification accuracy. </a:t>
            </a:r>
          </a:p>
          <a:p>
            <a:pPr algn="just"/>
            <a:r>
              <a:rPr lang="en-IN" sz="2400" dirty="0"/>
              <a:t>CNN models outperformed traditional ML models in language identification.</a:t>
            </a:r>
            <a:endParaRPr lang="en-IN" sz="23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4F3A7-14D4-49AB-B9FF-0BF0C2A33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065FE-0069-489B-9A0E-0CE9C1C17171}" type="datetime1">
              <a:rPr lang="en-IN" smtClean="0"/>
              <a:t>26-05-2026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E2914-A851-45FE-90A4-5945D3F6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567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E67E6-1091-41E6-A048-3D4EF30E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8325C-4572-4FC9-9C64-8112ABED6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68" y="912757"/>
            <a:ext cx="8861725" cy="5308933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IN" sz="6400" dirty="0"/>
              <a:t>[1]</a:t>
            </a:r>
            <a:r>
              <a:rPr lang="en-US" sz="6400" dirty="0"/>
              <a:t> Himanish Shekhar Das, and Pinki Roy. "Impact of Visual Representation of Audio Signals for Indian Language Identification." </a:t>
            </a:r>
            <a:r>
              <a:rPr lang="en-US" sz="6400" i="1" dirty="0"/>
              <a:t>Advances in Speech and Music Technology: Proceedings of FRSM 2020</a:t>
            </a:r>
            <a:r>
              <a:rPr lang="en-US" sz="6400" dirty="0"/>
              <a:t>. Singapore: Springer Singapore, 2021. 395-407. Springer, 2021.</a:t>
            </a:r>
            <a:endParaRPr lang="en-IN" sz="6400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6400" dirty="0"/>
              <a:t>[2]</a:t>
            </a:r>
            <a:r>
              <a:rPr lang="en-IN" sz="6400" b="1" dirty="0"/>
              <a:t> </a:t>
            </a:r>
            <a:r>
              <a:rPr lang="en-IN" sz="6400" dirty="0"/>
              <a:t>Zhanyu Ma, Hong Yu, Wei Chen, and Jun Guo (2019) "Short utterance based speech language identification in intelligent vehicles with time-scale modifications and deep bottleneck features." </a:t>
            </a:r>
            <a:r>
              <a:rPr lang="en-IN" sz="6400" i="1" dirty="0"/>
              <a:t>IEEE transactions on vehicular technology</a:t>
            </a:r>
            <a:r>
              <a:rPr lang="en-IN" sz="6400" dirty="0"/>
              <a:t> 68.1 (2018): 121-128.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6400" dirty="0"/>
              <a:t>[3] </a:t>
            </a:r>
            <a:r>
              <a:rPr lang="en-IN" sz="6400" dirty="0"/>
              <a:t>Vuddagiri, Ravi Kumar, Hari Krishna Vydana and Anil Kumar Vuppala "Multi-head self-attention networks for language identification." </a:t>
            </a:r>
            <a:r>
              <a:rPr lang="en-IN" sz="6400" i="1" dirty="0"/>
              <a:t>2019 Twelfth international conference on contemporary computing (IC3)</a:t>
            </a:r>
            <a:r>
              <a:rPr lang="en-IN" sz="6400" dirty="0"/>
              <a:t>. IEEE, 2019:(pp. 1-5). IEEE.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6400" dirty="0"/>
              <a:t>[4]</a:t>
            </a:r>
            <a:r>
              <a:rPr lang="en-IN" sz="6400" dirty="0"/>
              <a:t> </a:t>
            </a:r>
            <a:r>
              <a:rPr lang="en-US" sz="6400" dirty="0"/>
              <a:t>Mistry, Yogita D., Gajanan K. Birajdar, and Archana M. Khodke. "Time-frequency visual representation and texture features for audio applications: a comprehensive review, recent trends, and challenges." </a:t>
            </a:r>
            <a:r>
              <a:rPr lang="en-US" sz="6400" i="1" dirty="0"/>
              <a:t>Multimedia Tools and Applications</a:t>
            </a:r>
            <a:r>
              <a:rPr lang="en-US" sz="6400" dirty="0"/>
              <a:t> 82.23 (2023): 36143-36177.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6400" dirty="0"/>
              <a:t>[5] Farah Adeeba, </a:t>
            </a:r>
            <a:r>
              <a:rPr lang="en-IN" sz="6400" dirty="0"/>
              <a:t>Muhammad Umar </a:t>
            </a:r>
            <a:r>
              <a:rPr lang="en-US" sz="6400" dirty="0"/>
              <a:t>and Sarmad Hussain, "Enhancing large vocabulary continuous speech recognition system for urdu-english conversational code-switched speech." </a:t>
            </a:r>
            <a:r>
              <a:rPr lang="en-US" sz="6400" i="1" dirty="0"/>
              <a:t>2020 23rd Conference of the Oriental COCOSDA International Committee for the Co-ordination and Standardisation of Speech Databases and Assessment Techniques (O-COCOSDA)</a:t>
            </a:r>
            <a:r>
              <a:rPr lang="en-US" sz="6400" dirty="0"/>
              <a:t>. IEEE, 2020: </a:t>
            </a:r>
            <a:r>
              <a:rPr lang="en-IN" sz="6400" dirty="0"/>
              <a:t>(pp. 155-159). I</a:t>
            </a:r>
            <a:endParaRPr lang="en-US" sz="64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6400" dirty="0"/>
              <a:t>[6] </a:t>
            </a:r>
            <a:r>
              <a:rPr lang="en-IN" sz="6400" dirty="0"/>
              <a:t>Venkatesan, Hariraj, T. Varun Venkatasubramanian, and J. Sangeetha. "Automatic language identification using machine learning techniques." </a:t>
            </a:r>
            <a:r>
              <a:rPr lang="en-IN" sz="6400" i="1" dirty="0"/>
              <a:t>2018 3rd International Conference on Communication and Electronics Systems (ICCES)</a:t>
            </a:r>
            <a:r>
              <a:rPr lang="en-IN" sz="6400" dirty="0"/>
              <a:t>. IEEE, 2018: (pp. 583-588).</a:t>
            </a:r>
          </a:p>
          <a:p>
            <a:pPr marL="0" indent="0">
              <a:lnSpc>
                <a:spcPct val="110000"/>
              </a:lnSpc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54A40-6917-4545-815D-83E5B8F5F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2862B-87A5-4073-B616-5F0F829D58CA}" type="datetime1">
              <a:rPr lang="en-IN" smtClean="0"/>
              <a:t>26-05-2026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07148-A110-4012-A661-80C04D728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B7573-0EEC-4F18-B4D8-B9624EC7F9C7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798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6858000"/>
          </a:xfrm>
          <a:prstGeom prst="rect">
            <a:avLst/>
          </a:prstGeom>
          <a:solidFill>
            <a:srgbClr val="7271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35" name="Picture 1034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7F2A9-19A9-4319-8E39-B664A50C7B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EA8749E-3FF3-41B2-B4DE-BB379C572509}" type="datetime1">
              <a:rPr lang="en-US" sz="1050">
                <a:solidFill>
                  <a:srgbClr val="898989"/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5/26/2026</a:t>
            </a:fld>
            <a:endParaRPr lang="en-US" sz="1050">
              <a:solidFill>
                <a:srgbClr val="898989"/>
              </a:solidFill>
              <a:latin typeface="+mn-lt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4D8C0-FCAD-44C7-9CF2-4F653D76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ADFB7573-0EEC-4F18-B4D8-B9624EC7F9C7}" type="slidenum">
              <a:rPr lang="en-US" sz="105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 defTabSz="914400">
                <a:spcAft>
                  <a:spcPts val="600"/>
                </a:spcAft>
              </a:pPr>
              <a:t>18</a:t>
            </a:fld>
            <a:endParaRPr lang="en-US" sz="1050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5410" y="-3970"/>
            <a:ext cx="7748362" cy="6874811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1028" name="Picture 4" descr="Cute Thank You. Black Vector. Wish For You. Red Color Illustration On ...">
            <a:extLst>
              <a:ext uri="{FF2B5EF4-FFF2-40B4-BE49-F238E27FC236}">
                <a16:creationId xmlns:a16="http://schemas.microsoft.com/office/drawing/2014/main" id="{A69C567E-AACA-A023-94F5-6526DB38FF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72619" y="1172029"/>
            <a:ext cx="4513942" cy="451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3861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2800</TotalTime>
  <Words>1251</Words>
  <Application>Microsoft Office PowerPoint</Application>
  <PresentationFormat>On-screen Show (4:3)</PresentationFormat>
  <Paragraphs>238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Bahnschrift SemiBold SemiConden</vt:lpstr>
      <vt:lpstr>Bahnschrift SemiCondensed</vt:lpstr>
      <vt:lpstr>Book Antiqua</vt:lpstr>
      <vt:lpstr>Calibri</vt:lpstr>
      <vt:lpstr>Cambria Math</vt:lpstr>
      <vt:lpstr>Leelawadee</vt:lpstr>
      <vt:lpstr>Office Theme</vt:lpstr>
      <vt:lpstr>Senior Design Project Presentation on REGIONAL LANGUAGE IDENTIFICATION USING MACHINE LEARNING</vt:lpstr>
      <vt:lpstr>Contents</vt:lpstr>
      <vt:lpstr>Introduction </vt:lpstr>
      <vt:lpstr>Objective </vt:lpstr>
      <vt:lpstr>Literature Survey </vt:lpstr>
      <vt:lpstr>Design Scheme </vt:lpstr>
      <vt:lpstr>Testing </vt:lpstr>
      <vt:lpstr>Results and Analysis</vt:lpstr>
      <vt:lpstr> Evaluation</vt:lpstr>
      <vt:lpstr> Evaluation(continued)</vt:lpstr>
      <vt:lpstr> Evaluation(continued)</vt:lpstr>
      <vt:lpstr> Confusion Matrix Analysis</vt:lpstr>
      <vt:lpstr> ROC Curve Analysis</vt:lpstr>
      <vt:lpstr>Socio-economic Issues Associated With The Project</vt:lpstr>
      <vt:lpstr>Engineering Tools And Standards 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 P</dc:creator>
  <cp:lastModifiedBy>Srijal Rath</cp:lastModifiedBy>
  <cp:revision>45</cp:revision>
  <dcterms:created xsi:type="dcterms:W3CDTF">2019-03-27T16:45:00Z</dcterms:created>
  <dcterms:modified xsi:type="dcterms:W3CDTF">2026-05-26T10:42:41Z</dcterms:modified>
</cp:coreProperties>
</file>